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2" r:id="rId1"/>
  </p:sldMasterIdLst>
  <p:sldIdLst>
    <p:sldId id="268" r:id="rId2"/>
    <p:sldId id="263" r:id="rId3"/>
    <p:sldId id="264" r:id="rId4"/>
    <p:sldId id="269" r:id="rId5"/>
    <p:sldId id="265" r:id="rId6"/>
    <p:sldId id="266" r:id="rId7"/>
    <p:sldId id="267" r:id="rId8"/>
    <p:sldId id="270" r:id="rId9"/>
    <p:sldId id="271" r:id="rId10"/>
    <p:sldId id="27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38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665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179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109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18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13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24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469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850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9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03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3821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17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8352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4032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16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291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039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A6CE8-D4ED-FD8B-B553-833191A56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8">
            <a:extLst>
              <a:ext uri="{FF2B5EF4-FFF2-40B4-BE49-F238E27FC236}">
                <a16:creationId xmlns:a16="http://schemas.microsoft.com/office/drawing/2014/main" id="{ABF35C91-163D-7710-39FE-A1EFFA951918}"/>
              </a:ext>
            </a:extLst>
          </p:cNvPr>
          <p:cNvSpPr txBox="1">
            <a:spLocks/>
          </p:cNvSpPr>
          <p:nvPr/>
        </p:nvSpPr>
        <p:spPr>
          <a:xfrm>
            <a:off x="8437556" y="6166365"/>
            <a:ext cx="173990" cy="1962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IN" spc="-50" smtClean="0">
                <a:solidFill>
                  <a:schemeClr val="bg1"/>
                </a:solidFill>
              </a:rPr>
              <a:pPr marL="38100">
                <a:lnSpc>
                  <a:spcPts val="1425"/>
                </a:lnSpc>
              </a:pPr>
              <a:t>1</a:t>
            </a:fld>
            <a:endParaRPr lang="en-IN" spc="-50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9D04E5-6AC4-A576-716B-DD3C5FE80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939537"/>
            <a:ext cx="6347713" cy="1320800"/>
          </a:xfrm>
        </p:spPr>
        <p:txBody>
          <a:bodyPr/>
          <a:lstStyle/>
          <a:p>
            <a:r>
              <a:rPr lang="en-US" b="1" spc="-20" dirty="0">
                <a:latin typeface="Arial"/>
                <a:cs typeface="Arial"/>
              </a:rPr>
              <a:t>Team</a:t>
            </a:r>
            <a:r>
              <a:rPr lang="en-US" b="1" spc="-6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Name</a:t>
            </a:r>
            <a:r>
              <a:rPr lang="en-US" b="1" spc="-85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–</a:t>
            </a:r>
            <a:r>
              <a:rPr lang="en-US" b="1" spc="-160" dirty="0">
                <a:latin typeface="Arial"/>
                <a:cs typeface="Arial"/>
              </a:rPr>
              <a:t> </a:t>
            </a:r>
            <a:r>
              <a:rPr lang="en-US" b="1" spc="-10" dirty="0">
                <a:latin typeface="Arial"/>
                <a:cs typeface="Arial"/>
              </a:rPr>
              <a:t>Aniruddha</a:t>
            </a:r>
            <a:br>
              <a:rPr lang="en-US" dirty="0">
                <a:latin typeface="Arial"/>
                <a:cs typeface="Arial"/>
              </a:rPr>
            </a:br>
            <a:endParaRPr lang="en-IN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17D32DB-827F-32DF-4D9D-DDEA6EE49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90" y="1989764"/>
            <a:ext cx="7299490" cy="5070402"/>
          </a:xfrm>
        </p:spPr>
        <p:txBody>
          <a:bodyPr>
            <a:normAutofit/>
          </a:bodyPr>
          <a:lstStyle/>
          <a:p>
            <a:pPr marL="299085" indent="-286385">
              <a:lnSpc>
                <a:spcPct val="100000"/>
              </a:lnSpc>
              <a:spcBef>
                <a:spcPts val="110"/>
              </a:spcBef>
              <a:buFont typeface="Wingdings" panose="05000000000000000000" pitchFamily="2" charset="2"/>
              <a:buChar char="v"/>
              <a:tabLst>
                <a:tab pos="299085" algn="l"/>
              </a:tabLst>
            </a:pPr>
            <a:r>
              <a:rPr lang="en-IN" b="1" dirty="0">
                <a:latin typeface="Arial"/>
                <a:cs typeface="Arial"/>
              </a:rPr>
              <a:t>Problem</a:t>
            </a:r>
            <a:r>
              <a:rPr lang="en-IN" b="1" spc="-50" dirty="0">
                <a:latin typeface="Arial"/>
                <a:cs typeface="Arial"/>
              </a:rPr>
              <a:t> </a:t>
            </a:r>
            <a:r>
              <a:rPr lang="en-IN" b="1" dirty="0">
                <a:latin typeface="Arial"/>
                <a:cs typeface="Arial"/>
              </a:rPr>
              <a:t>Statement</a:t>
            </a:r>
            <a:r>
              <a:rPr lang="en-IN" b="1" spc="-20" dirty="0">
                <a:latin typeface="Arial"/>
                <a:cs typeface="Arial"/>
              </a:rPr>
              <a:t> </a:t>
            </a:r>
            <a:r>
              <a:rPr lang="en-IN" b="1" dirty="0">
                <a:latin typeface="Arial"/>
                <a:cs typeface="Arial"/>
              </a:rPr>
              <a:t>ID</a:t>
            </a:r>
            <a:r>
              <a:rPr lang="en-IN" b="1" spc="-40" dirty="0">
                <a:latin typeface="Arial"/>
                <a:cs typeface="Arial"/>
              </a:rPr>
              <a:t> </a:t>
            </a:r>
            <a:r>
              <a:rPr lang="en-IN" b="1" dirty="0">
                <a:latin typeface="Arial"/>
                <a:cs typeface="Arial"/>
              </a:rPr>
              <a:t>– </a:t>
            </a:r>
            <a:r>
              <a:rPr lang="en-IN" b="1" spc="-10" dirty="0">
                <a:latin typeface="Arial"/>
                <a:cs typeface="Arial"/>
              </a:rPr>
              <a:t>ICIH-3</a:t>
            </a:r>
          </a:p>
          <a:p>
            <a:pPr marL="299085" marR="5080" indent="-287020">
              <a:lnSpc>
                <a:spcPct val="200100"/>
              </a:lnSpc>
              <a:buFont typeface="Wingdings" panose="05000000000000000000" pitchFamily="2" charset="2"/>
              <a:buChar char="v"/>
              <a:tabLst>
                <a:tab pos="299085" algn="l"/>
                <a:tab pos="3743960" algn="l"/>
                <a:tab pos="4737735" algn="l"/>
                <a:tab pos="6213475" algn="l"/>
                <a:tab pos="8280400" algn="l"/>
                <a:tab pos="10076180" algn="l"/>
              </a:tabLst>
            </a:pPr>
            <a:r>
              <a:rPr lang="en-US" b="1" dirty="0">
                <a:latin typeface="Arial"/>
                <a:cs typeface="Arial"/>
              </a:rPr>
              <a:t>Problem</a:t>
            </a:r>
            <a:r>
              <a:rPr lang="en-US" b="1" spc="355" dirty="0">
                <a:latin typeface="Arial"/>
                <a:cs typeface="Arial"/>
              </a:rPr>
              <a:t> </a:t>
            </a:r>
            <a:r>
              <a:rPr lang="en-US" b="1" spc="-10" dirty="0">
                <a:latin typeface="Arial"/>
                <a:cs typeface="Arial"/>
              </a:rPr>
              <a:t>Statement Title </a:t>
            </a:r>
            <a:r>
              <a:rPr lang="en-US" b="1" dirty="0">
                <a:latin typeface="Arial"/>
                <a:cs typeface="Arial"/>
              </a:rPr>
              <a:t>– Enhance safety and accessibility in public and residential spaces focusing on inclusivity.</a:t>
            </a:r>
            <a:endParaRPr lang="en-US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 panose="05000000000000000000" pitchFamily="2" charset="2"/>
              <a:buChar char="v"/>
            </a:pPr>
            <a:endParaRPr lang="en-US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Wingdings" panose="05000000000000000000" pitchFamily="2" charset="2"/>
              <a:buChar char="v"/>
              <a:tabLst>
                <a:tab pos="299085" algn="l"/>
              </a:tabLst>
            </a:pPr>
            <a:r>
              <a:rPr lang="en-US" b="1" dirty="0">
                <a:latin typeface="Arial"/>
                <a:cs typeface="Arial"/>
              </a:rPr>
              <a:t>Theme –</a:t>
            </a:r>
            <a:r>
              <a:rPr lang="en-US" b="1" spc="-25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Smart Living ,Urban Innovation &amp; Industrialization</a:t>
            </a:r>
            <a:endParaRPr lang="en-US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140"/>
              </a:spcBef>
              <a:buNone/>
            </a:pPr>
            <a:endParaRPr lang="en-US" dirty="0">
              <a:latin typeface="Arial"/>
              <a:cs typeface="Arial"/>
            </a:endParaRPr>
          </a:p>
          <a:p>
            <a:pPr marL="12700" indent="0">
              <a:lnSpc>
                <a:spcPct val="100000"/>
              </a:lnSpc>
              <a:spcBef>
                <a:spcPts val="110"/>
              </a:spcBef>
              <a:buNone/>
              <a:tabLst>
                <a:tab pos="299085" algn="l"/>
              </a:tabLst>
            </a:pPr>
            <a:endParaRPr lang="en-IN" dirty="0">
              <a:latin typeface="Arial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AAB134-8919-3A6C-0D16-48CECE465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693" y="4518185"/>
            <a:ext cx="2461280" cy="184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041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A7D99-8945-329E-B3E0-4237E83F1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68F54-DCCB-D349-B8E8-663B57D76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46928"/>
            <a:ext cx="6347713" cy="1320800"/>
          </a:xfrm>
        </p:spPr>
        <p:txBody>
          <a:bodyPr/>
          <a:lstStyle/>
          <a:p>
            <a:r>
              <a:rPr lang="en-IN" dirty="0"/>
              <a:t>Idea Title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0EF8E-5D1D-5A14-B9A7-347993858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AI-Powered Community Safety &amp; Real-Time Alert System</a:t>
            </a:r>
            <a:endParaRPr lang="en-US" dirty="0"/>
          </a:p>
          <a:p>
            <a:r>
              <a:rPr lang="en-US" dirty="0"/>
              <a:t>An </a:t>
            </a:r>
            <a:r>
              <a:rPr lang="en-US" b="1" dirty="0"/>
              <a:t>Android-based app</a:t>
            </a:r>
            <a:r>
              <a:rPr lang="en-US" dirty="0"/>
              <a:t> integrated with AI-driven </a:t>
            </a:r>
            <a:r>
              <a:rPr lang="en-US" b="1" dirty="0"/>
              <a:t>camera threat detection</a:t>
            </a:r>
            <a:r>
              <a:rPr lang="en-US" dirty="0"/>
              <a:t>.</a:t>
            </a:r>
          </a:p>
          <a:p>
            <a:r>
              <a:rPr lang="en-US" dirty="0"/>
              <a:t>Works with </a:t>
            </a:r>
            <a:r>
              <a:rPr lang="en-US" b="1" dirty="0"/>
              <a:t>existing CCTV networks</a:t>
            </a:r>
            <a:r>
              <a:rPr lang="en-US" dirty="0"/>
              <a:t> in societies, industries, and public spaces.</a:t>
            </a:r>
          </a:p>
          <a:p>
            <a:r>
              <a:rPr lang="en-US" dirty="0"/>
              <a:t>Sends </a:t>
            </a:r>
            <a:r>
              <a:rPr lang="en-US" b="1" dirty="0"/>
              <a:t>instant, location-based alerts</a:t>
            </a:r>
            <a:r>
              <a:rPr lang="en-US" dirty="0"/>
              <a:t> to nearby verified users and local authorities.</a:t>
            </a:r>
          </a:p>
          <a:p>
            <a:r>
              <a:rPr lang="en-US" dirty="0"/>
              <a:t>Builds </a:t>
            </a:r>
            <a:r>
              <a:rPr lang="en-US" b="1" dirty="0"/>
              <a:t>dynamic community groups</a:t>
            </a:r>
            <a:r>
              <a:rPr lang="en-US" dirty="0"/>
              <a:t> to enable fastest responders in an emergency.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3A72C0EA-2119-9232-97F2-B1DE91ED46CE}"/>
              </a:ext>
            </a:extLst>
          </p:cNvPr>
          <p:cNvSpPr txBox="1">
            <a:spLocks/>
          </p:cNvSpPr>
          <p:nvPr/>
        </p:nvSpPr>
        <p:spPr>
          <a:xfrm>
            <a:off x="8437556" y="6505732"/>
            <a:ext cx="173990" cy="1962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IN" spc="-50" smtClean="0">
                <a:solidFill>
                  <a:schemeClr val="bg1"/>
                </a:solidFill>
              </a:rPr>
              <a:pPr marL="38100">
                <a:lnSpc>
                  <a:spcPts val="1425"/>
                </a:lnSpc>
              </a:pPr>
              <a:t>2</a:t>
            </a:fld>
            <a:endParaRPr lang="en-IN" spc="-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079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45BA0-81ED-4AC1-ADFE-11227FDC9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CA402-2777-5A2C-DC11-D994A515F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519" y="609600"/>
            <a:ext cx="6347713" cy="1320800"/>
          </a:xfrm>
        </p:spPr>
        <p:txBody>
          <a:bodyPr/>
          <a:lstStyle/>
          <a:p>
            <a:r>
              <a:rPr lang="en-IN" dirty="0"/>
              <a:t>Proposed Solution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3787A-758D-A40B-599E-B01E706E1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095" y="1508290"/>
            <a:ext cx="6347713" cy="534971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Problem Being Addressed: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Slow response time during emergencies.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Lack of citizen engagement in safety.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Inefficient use of existing CCTV systems.</a:t>
            </a:r>
          </a:p>
          <a:p>
            <a:r>
              <a:rPr lang="en-IN" b="1" dirty="0"/>
              <a:t>Solution Highlights: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AI model </a:t>
            </a:r>
            <a:r>
              <a:rPr lang="en-IN" dirty="0" err="1"/>
              <a:t>analyzes</a:t>
            </a:r>
            <a:r>
              <a:rPr lang="en-IN" dirty="0"/>
              <a:t> live video feeds for </a:t>
            </a:r>
            <a:r>
              <a:rPr lang="en-IN" b="1" dirty="0"/>
              <a:t>accidents, suspicious activities, theft, kidnappings, fire, or road mishaps</a:t>
            </a:r>
            <a:r>
              <a:rPr lang="en-IN" dirty="0"/>
              <a:t>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Alert system pushes verified notifications to: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IN" dirty="0"/>
              <a:t>Nearby </a:t>
            </a:r>
            <a:r>
              <a:rPr lang="en-IN" b="1" dirty="0"/>
              <a:t>community users</a:t>
            </a:r>
            <a:endParaRPr lang="en-IN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IN" dirty="0"/>
              <a:t>Local </a:t>
            </a:r>
            <a:r>
              <a:rPr lang="en-IN" b="1" dirty="0"/>
              <a:t>police station/authorities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Community-based validation (upvote/downvote) ensures </a:t>
            </a:r>
            <a:r>
              <a:rPr lang="en-IN" b="1" dirty="0"/>
              <a:t>false alarms are minimized</a:t>
            </a:r>
            <a:r>
              <a:rPr lang="en-IN" dirty="0"/>
              <a:t>.</a:t>
            </a:r>
            <a:endParaRPr lang="en-US" dirty="0"/>
          </a:p>
          <a:p>
            <a:r>
              <a:rPr lang="en-US" b="1" dirty="0"/>
              <a:t>Innovation(</a:t>
            </a:r>
            <a:r>
              <a:rPr lang="en-US" b="1" dirty="0" err="1"/>
              <a:t>Novality</a:t>
            </a:r>
            <a:r>
              <a:rPr lang="en-US" b="1" dirty="0"/>
              <a:t>):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First system to combine </a:t>
            </a:r>
            <a:r>
              <a:rPr lang="en-US" b="1" dirty="0"/>
              <a:t>AI safety detection + Geo-based citizen response</a:t>
            </a:r>
            <a:r>
              <a:rPr lang="en-US" dirty="0"/>
              <a:t>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Preventive model — </a:t>
            </a:r>
            <a:r>
              <a:rPr lang="en-US" i="1" dirty="0"/>
              <a:t>not just reactive</a:t>
            </a:r>
            <a:r>
              <a:rPr lang="en-US" dirty="0"/>
              <a:t> like traditional surveillance.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B47C5904-16D7-D4A4-B715-868137AE28AF}"/>
              </a:ext>
            </a:extLst>
          </p:cNvPr>
          <p:cNvSpPr txBox="1">
            <a:spLocks/>
          </p:cNvSpPr>
          <p:nvPr/>
        </p:nvSpPr>
        <p:spPr>
          <a:xfrm>
            <a:off x="8437556" y="6505732"/>
            <a:ext cx="173990" cy="1962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IN" spc="-50" smtClean="0">
                <a:solidFill>
                  <a:schemeClr val="bg1"/>
                </a:solidFill>
              </a:rPr>
              <a:pPr marL="38100">
                <a:lnSpc>
                  <a:spcPts val="1425"/>
                </a:lnSpc>
              </a:pPr>
              <a:t>3</a:t>
            </a:fld>
            <a:endParaRPr lang="en-IN" spc="-5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D91863-4CE2-492B-CBEB-E0282BB15A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47" r="3239"/>
          <a:stretch>
            <a:fillRect/>
          </a:stretch>
        </p:blipFill>
        <p:spPr>
          <a:xfrm>
            <a:off x="6447937" y="791853"/>
            <a:ext cx="2614373" cy="534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838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BE545-492B-63B6-6663-A82B4D5EA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89D12A7-3009-C8B2-3291-802F37711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469" y="694441"/>
            <a:ext cx="6997832" cy="1320800"/>
          </a:xfrm>
        </p:spPr>
        <p:txBody>
          <a:bodyPr/>
          <a:lstStyle/>
          <a:p>
            <a:r>
              <a:rPr lang="en-IN" dirty="0"/>
              <a:t>Technical Approach (Technology Stack)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0FFA0-1B83-F6E2-D07E-2056E1898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469" y="1864944"/>
            <a:ext cx="6818723" cy="4997442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Frontend (Mobile App):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React native  / Jetpack Compose.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Responsive UI for safety-critical alerts.</a:t>
            </a:r>
          </a:p>
          <a:p>
            <a:r>
              <a:rPr lang="en-IN" dirty="0"/>
              <a:t>Backend &amp; Database</a:t>
            </a:r>
            <a:r>
              <a:rPr lang="en-IN" b="1" dirty="0"/>
              <a:t>: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Firebase Authentication (OTP-based).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Firestore for real-time community feeds.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Firebase Cloud Messaging for instant push notifications.</a:t>
            </a:r>
            <a:endParaRPr lang="en-IN" dirty="0"/>
          </a:p>
          <a:p>
            <a:r>
              <a:rPr lang="en-IN" dirty="0"/>
              <a:t>AI/ML Layer</a:t>
            </a:r>
            <a:r>
              <a:rPr lang="en-US" b="1" dirty="0"/>
              <a:t>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Computer Vision: YOLOv8 / TensorFlow </a:t>
            </a:r>
            <a:r>
              <a:rPr lang="en-US" dirty="0"/>
              <a:t>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Pre-trained datasets for crime, fire, accidents, intrusion.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Continuous learning with community feedback.</a:t>
            </a:r>
            <a:endParaRPr lang="en-US" b="1" dirty="0"/>
          </a:p>
          <a:p>
            <a:r>
              <a:rPr lang="en-IN" dirty="0"/>
              <a:t>Security: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End-to-End Encryption for alerts.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Secure OTP-based user verification.</a:t>
            </a:r>
          </a:p>
          <a:p>
            <a:pPr marL="457200" lvl="1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AD433A35-10EC-C145-F7A1-538DC23FA610}"/>
              </a:ext>
            </a:extLst>
          </p:cNvPr>
          <p:cNvSpPr txBox="1">
            <a:spLocks/>
          </p:cNvSpPr>
          <p:nvPr/>
        </p:nvSpPr>
        <p:spPr>
          <a:xfrm>
            <a:off x="8437556" y="6505732"/>
            <a:ext cx="173990" cy="1962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IN" spc="-50" smtClean="0">
                <a:solidFill>
                  <a:schemeClr val="bg1"/>
                </a:solidFill>
              </a:rPr>
              <a:pPr marL="38100">
                <a:lnSpc>
                  <a:spcPts val="1425"/>
                </a:lnSpc>
              </a:pPr>
              <a:t>4</a:t>
            </a:fld>
            <a:endParaRPr lang="en-IN" spc="-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9610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FC966-05E4-3677-FA7E-0A84AF6F4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DF63A-A18D-02A0-3644-8FBCD542F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027" y="732151"/>
            <a:ext cx="6997832" cy="1320800"/>
          </a:xfrm>
        </p:spPr>
        <p:txBody>
          <a:bodyPr/>
          <a:lstStyle/>
          <a:p>
            <a:r>
              <a:rPr lang="en-IN" dirty="0"/>
              <a:t>Technical Approach (Workflow &amp; Architecture)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DA1BD-8B87-05F5-AFCC-B558CE797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026" y="2283141"/>
            <a:ext cx="6347714" cy="3880773"/>
          </a:xfrm>
        </p:spPr>
        <p:txBody>
          <a:bodyPr/>
          <a:lstStyle/>
          <a:p>
            <a:r>
              <a:rPr lang="en-IN" b="1" dirty="0"/>
              <a:t>Step 1:</a:t>
            </a:r>
            <a:r>
              <a:rPr lang="en-IN" dirty="0"/>
              <a:t> CCTV → AI Threat Analysis (Server/Edge device)</a:t>
            </a:r>
          </a:p>
          <a:p>
            <a:r>
              <a:rPr lang="en-IN" b="1" dirty="0"/>
              <a:t>Step 2:</a:t>
            </a:r>
            <a:r>
              <a:rPr lang="en-IN" dirty="0"/>
              <a:t> If threat detected → Alert Engine triggers</a:t>
            </a:r>
          </a:p>
          <a:p>
            <a:r>
              <a:rPr lang="en-IN" b="1" dirty="0"/>
              <a:t>Step 3:</a:t>
            </a:r>
            <a:r>
              <a:rPr lang="en-IN" dirty="0"/>
              <a:t> Alerts sent to →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IN" dirty="0"/>
              <a:t>App users nearby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IN" dirty="0"/>
              <a:t>Local authorities</a:t>
            </a:r>
          </a:p>
          <a:p>
            <a:r>
              <a:rPr lang="en-IN" b="1" dirty="0"/>
              <a:t>Step 4:</a:t>
            </a:r>
            <a:r>
              <a:rPr lang="en-IN" dirty="0"/>
              <a:t> Community responds → validates alerts</a:t>
            </a:r>
          </a:p>
          <a:p>
            <a:r>
              <a:rPr lang="en-IN" b="1" dirty="0"/>
              <a:t>Step 5:</a:t>
            </a:r>
            <a:r>
              <a:rPr lang="en-IN" dirty="0"/>
              <a:t> System auto-filters false alarms &amp; strengthens model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300C5008-AC13-C8CB-35AC-CBF54AC3FFC8}"/>
              </a:ext>
            </a:extLst>
          </p:cNvPr>
          <p:cNvSpPr txBox="1">
            <a:spLocks/>
          </p:cNvSpPr>
          <p:nvPr/>
        </p:nvSpPr>
        <p:spPr>
          <a:xfrm>
            <a:off x="8437556" y="6505732"/>
            <a:ext cx="173990" cy="1962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IN" spc="-50" smtClean="0">
                <a:solidFill>
                  <a:schemeClr val="bg1"/>
                </a:solidFill>
              </a:rPr>
              <a:pPr marL="38100">
                <a:lnSpc>
                  <a:spcPts val="1425"/>
                </a:lnSpc>
              </a:pPr>
              <a:t>5</a:t>
            </a:fld>
            <a:endParaRPr lang="en-IN" spc="-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894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F9EB9-9B61-4A3A-D96F-D5D1E75E8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B3AC8-AFA7-EFDE-ED70-287DB7961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016"/>
            <a:ext cx="6347713" cy="1320800"/>
          </a:xfrm>
        </p:spPr>
        <p:txBody>
          <a:bodyPr/>
          <a:lstStyle/>
          <a:p>
            <a:r>
              <a:rPr lang="en-IN" dirty="0"/>
              <a:t>Feasibility &amp; Viability</a:t>
            </a:r>
            <a:endParaRPr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6F52633-8778-4377-57FC-C3C077D79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469" y="1600992"/>
            <a:ext cx="5932599" cy="4997442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Feasibility: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Works with </a:t>
            </a:r>
            <a:r>
              <a:rPr lang="en-IN" b="1" dirty="0"/>
              <a:t>existing infrastructure (CCTV cameras)</a:t>
            </a:r>
            <a:r>
              <a:rPr lang="en-IN" dirty="0"/>
              <a:t> → no costly hardware upgrade.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Scalable </a:t>
            </a:r>
            <a:r>
              <a:rPr lang="en-IN" b="1" dirty="0"/>
              <a:t>cloud-based backend</a:t>
            </a:r>
            <a:r>
              <a:rPr lang="en-IN" dirty="0"/>
              <a:t> (Firebase).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AI model tested on </a:t>
            </a:r>
            <a:r>
              <a:rPr lang="en-IN" b="1" dirty="0"/>
              <a:t>real-world surveillance datasets</a:t>
            </a:r>
            <a:r>
              <a:rPr lang="en-IN" dirty="0"/>
              <a:t>.</a:t>
            </a:r>
          </a:p>
          <a:p>
            <a:r>
              <a:rPr lang="en-IN" dirty="0"/>
              <a:t>Backend &amp; Database</a:t>
            </a:r>
            <a:r>
              <a:rPr lang="en-IN" b="1" dirty="0"/>
              <a:t>: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/>
              <a:t>False Positives/Negatives</a:t>
            </a:r>
            <a:r>
              <a:rPr lang="en-US" dirty="0"/>
              <a:t> – incorrect detection of incidents.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User Privacy Concerns</a:t>
            </a:r>
            <a:r>
              <a:rPr lang="en-IN" dirty="0"/>
              <a:t> – live video data handling.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/>
              <a:t>Adoption</a:t>
            </a:r>
            <a:r>
              <a:rPr lang="en-US" dirty="0"/>
              <a:t> – encouraging communities to trust and engage.</a:t>
            </a:r>
            <a:endParaRPr lang="en-IN" dirty="0"/>
          </a:p>
          <a:p>
            <a:r>
              <a:rPr lang="en-IN" dirty="0"/>
              <a:t>AI/ML Layer</a:t>
            </a:r>
            <a:r>
              <a:rPr lang="en-US" b="1" dirty="0"/>
              <a:t>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Continuous model training with </a:t>
            </a:r>
            <a:r>
              <a:rPr lang="en-US" b="1" dirty="0"/>
              <a:t>feedback loops.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Data anonymization (no personal identification stored).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Gamification &amp; reward points for active community responders.</a:t>
            </a: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5DA49913-2C6D-9F1A-0349-AD8709A51BE2}"/>
              </a:ext>
            </a:extLst>
          </p:cNvPr>
          <p:cNvSpPr txBox="1">
            <a:spLocks/>
          </p:cNvSpPr>
          <p:nvPr/>
        </p:nvSpPr>
        <p:spPr>
          <a:xfrm>
            <a:off x="8437556" y="6505732"/>
            <a:ext cx="173990" cy="1962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IN" spc="-50" smtClean="0">
                <a:solidFill>
                  <a:schemeClr val="bg1"/>
                </a:solidFill>
              </a:rPr>
              <a:pPr marL="38100">
                <a:lnSpc>
                  <a:spcPts val="1425"/>
                </a:lnSpc>
              </a:pPr>
              <a:t>6</a:t>
            </a:fld>
            <a:endParaRPr lang="en-IN" spc="-50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2EB7963-4631-F273-C66B-60EABDBBB9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0"/>
          <a:stretch>
            <a:fillRect/>
          </a:stretch>
        </p:blipFill>
        <p:spPr>
          <a:xfrm>
            <a:off x="6363093" y="725861"/>
            <a:ext cx="2780907" cy="551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685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7A8E9-F44A-932C-42B9-4FC6115E9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E89BAA5-DACB-5EB9-C7BA-DEB4AC6C4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737" y="619020"/>
            <a:ext cx="6997832" cy="1320800"/>
          </a:xfrm>
        </p:spPr>
        <p:txBody>
          <a:bodyPr/>
          <a:lstStyle/>
          <a:p>
            <a:r>
              <a:rPr lang="en-IN" dirty="0"/>
              <a:t>Impact &amp; Benefits</a:t>
            </a:r>
            <a:endParaRPr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70D539F-F774-9A4B-362E-DDC400C41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737" y="1789523"/>
            <a:ext cx="6818723" cy="4997442"/>
          </a:xfrm>
        </p:spPr>
        <p:txBody>
          <a:bodyPr>
            <a:normAutofit/>
          </a:bodyPr>
          <a:lstStyle/>
          <a:p>
            <a:r>
              <a:rPr lang="en-IN" dirty="0"/>
              <a:t>Social Impact: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Empowers citizens to become </a:t>
            </a:r>
            <a:r>
              <a:rPr lang="en-US" b="1" dirty="0"/>
              <a:t>first responders.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Safer societies, offices, and transport hubs.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Builds trust between community &amp; law </a:t>
            </a:r>
            <a:r>
              <a:rPr lang="en-US" dirty="0" err="1"/>
              <a:t>enforcemen</a:t>
            </a:r>
            <a:r>
              <a:rPr lang="en-US" dirty="0"/>
              <a:t>.</a:t>
            </a:r>
          </a:p>
          <a:p>
            <a:r>
              <a:rPr lang="en-IN" dirty="0"/>
              <a:t>Economic Benefits</a:t>
            </a:r>
            <a:r>
              <a:rPr lang="en-IN" b="1" dirty="0"/>
              <a:t>: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Reduces damage/loss from crimes &amp; accidents.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Low-cost solution using existing surveillance infrastructure.</a:t>
            </a:r>
          </a:p>
          <a:p>
            <a:r>
              <a:rPr lang="en-IN" dirty="0"/>
              <a:t>Environmental Benefits</a:t>
            </a:r>
            <a:r>
              <a:rPr lang="en-US" b="1" dirty="0"/>
              <a:t>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No need for new hardware – </a:t>
            </a:r>
            <a:r>
              <a:rPr lang="en-US" b="1" dirty="0"/>
              <a:t>eco-friendly digital solution</a:t>
            </a:r>
            <a:r>
              <a:rPr lang="en-US" dirty="0"/>
              <a:t>.</a:t>
            </a:r>
          </a:p>
          <a:p>
            <a:r>
              <a:rPr lang="en-IN" dirty="0"/>
              <a:t>Overall Impact: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Faster intervention = lives saved.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Stronger community = safer cities.</a:t>
            </a:r>
          </a:p>
          <a:p>
            <a:pPr marL="457200" lvl="1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298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6FAB4-9CD9-3411-8735-21EF58E1C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8CC5F-0856-36ED-D5CC-3849CB0F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the App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402BF-05A4-9633-CEBA-7EF1D7859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26957"/>
            <a:ext cx="4829667" cy="4521443"/>
          </a:xfrm>
        </p:spPr>
        <p:txBody>
          <a:bodyPr>
            <a:normAutofit/>
          </a:bodyPr>
          <a:lstStyle/>
          <a:p>
            <a:r>
              <a:rPr lang="en-US" b="1" dirty="0"/>
              <a:t>User Onboarding:</a:t>
            </a:r>
            <a:r>
              <a:rPr lang="en-US" dirty="0"/>
              <a:t> Secure login with phone/email OTP.</a:t>
            </a:r>
          </a:p>
          <a:p>
            <a:r>
              <a:rPr lang="en-US" b="1" dirty="0"/>
              <a:t>Community Groups:</a:t>
            </a:r>
            <a:r>
              <a:rPr lang="en-US" dirty="0"/>
              <a:t> Auto-created based on user’s </a:t>
            </a:r>
            <a:r>
              <a:rPr lang="en-US" b="1" dirty="0"/>
              <a:t>daily routine &amp; mapped locations</a:t>
            </a:r>
            <a:r>
              <a:rPr lang="en-US" dirty="0"/>
              <a:t> (Home, Office, Gym).</a:t>
            </a:r>
          </a:p>
          <a:p>
            <a:r>
              <a:rPr lang="en-US" b="1" dirty="0"/>
              <a:t>Incident Dashboard:</a:t>
            </a:r>
            <a:r>
              <a:rPr lang="en-US" dirty="0"/>
              <a:t> Real-time incident feed filtered by proximity.</a:t>
            </a:r>
          </a:p>
          <a:p>
            <a:r>
              <a:rPr lang="en-US" b="1" dirty="0"/>
              <a:t>Voting System:</a:t>
            </a:r>
            <a:r>
              <a:rPr lang="en-US" dirty="0"/>
              <a:t> Upvote (real) / Downvote (fake) to improve AI detection.</a:t>
            </a:r>
          </a:p>
          <a:p>
            <a:r>
              <a:rPr lang="en-IN" b="1" dirty="0"/>
              <a:t>User Profile Section:</a:t>
            </a:r>
            <a:r>
              <a:rPr lang="en-IN" dirty="0"/>
              <a:t> Emergency contacts, routines, preferences.</a:t>
            </a:r>
          </a:p>
          <a:p>
            <a:r>
              <a:rPr lang="en-US" b="1" dirty="0"/>
              <a:t>Smart Suggestions:</a:t>
            </a:r>
            <a:r>
              <a:rPr lang="en-US" dirty="0"/>
              <a:t> App suggests joining nearby communities for safety.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E25B2712-84A4-2B79-E415-6EEE1E77FD1C}"/>
              </a:ext>
            </a:extLst>
          </p:cNvPr>
          <p:cNvSpPr txBox="1">
            <a:spLocks/>
          </p:cNvSpPr>
          <p:nvPr/>
        </p:nvSpPr>
        <p:spPr>
          <a:xfrm>
            <a:off x="8437556" y="6505732"/>
            <a:ext cx="173990" cy="1962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IN" spc="-50" smtClean="0">
                <a:solidFill>
                  <a:schemeClr val="bg1"/>
                </a:solidFill>
              </a:rPr>
              <a:pPr marL="38100">
                <a:lnSpc>
                  <a:spcPts val="1425"/>
                </a:lnSpc>
              </a:pPr>
              <a:t>8</a:t>
            </a:fld>
            <a:endParaRPr lang="en-IN" spc="-5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2E80FDE-AD21-15CD-853C-B5D8EDC86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5811" y="753889"/>
            <a:ext cx="2836487" cy="535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899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5725C-C539-A6CE-4F29-D3F71F201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06356-831E-0651-673E-5E979CB60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Research &amp; References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75DC0-6354-E494-3BC4-D1655F04A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79821"/>
            <a:ext cx="6348413" cy="4447602"/>
          </a:xfrm>
        </p:spPr>
        <p:txBody>
          <a:bodyPr>
            <a:normAutofit/>
          </a:bodyPr>
          <a:lstStyle/>
          <a:p>
            <a:r>
              <a:rPr lang="en-IN" dirty="0"/>
              <a:t>Research Base: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Studies on </a:t>
            </a:r>
            <a:r>
              <a:rPr lang="en-US" b="1" dirty="0"/>
              <a:t>Community Policing &amp; Citizen Response Systems</a:t>
            </a:r>
            <a:r>
              <a:rPr lang="en-US" dirty="0"/>
              <a:t>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Papers on </a:t>
            </a:r>
            <a:r>
              <a:rPr lang="en-US" b="1" dirty="0"/>
              <a:t>AI for Crime Detection</a:t>
            </a:r>
            <a:r>
              <a:rPr lang="en-US" dirty="0"/>
              <a:t> using CCTV.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Smart City surveillance case studies (Singapore, Dubai).</a:t>
            </a:r>
          </a:p>
          <a:p>
            <a:r>
              <a:rPr lang="en-IN" dirty="0"/>
              <a:t>Technical References</a:t>
            </a:r>
            <a:r>
              <a:rPr lang="en-IN" b="1" dirty="0"/>
              <a:t>: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YOLOv8 for real-time object &amp; activity recognition.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Firebase documentation for scalable backend.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MIT &amp; IEEE papers on AI-driven urban safety</a:t>
            </a:r>
            <a:r>
              <a:rPr lang="en-IN" dirty="0"/>
              <a:t>.</a:t>
            </a:r>
            <a:endParaRPr lang="en-US" dirty="0"/>
          </a:p>
          <a:p>
            <a:r>
              <a:rPr lang="en-IN" b="1" dirty="0"/>
              <a:t>Competitive Analysis: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Similar apps exist for crime reporting but </a:t>
            </a:r>
            <a:r>
              <a:rPr lang="en-US" b="1" dirty="0"/>
              <a:t>lack community validation &amp; AI-based auto-detection</a:t>
            </a:r>
            <a:r>
              <a:rPr lang="en-US" dirty="0"/>
              <a:t>.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F3B74896-2568-68D3-D6D7-239328D5E672}"/>
              </a:ext>
            </a:extLst>
          </p:cNvPr>
          <p:cNvSpPr txBox="1">
            <a:spLocks/>
          </p:cNvSpPr>
          <p:nvPr/>
        </p:nvSpPr>
        <p:spPr>
          <a:xfrm>
            <a:off x="8437556" y="6505732"/>
            <a:ext cx="173990" cy="1962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IN" spc="-50" smtClean="0">
                <a:solidFill>
                  <a:schemeClr val="bg1"/>
                </a:solidFill>
              </a:rPr>
              <a:pPr marL="38100">
                <a:lnSpc>
                  <a:spcPts val="1425"/>
                </a:lnSpc>
              </a:pPr>
              <a:t>9</a:t>
            </a:fld>
            <a:endParaRPr lang="en-IN" spc="-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8127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98639-3EE7-28AB-D672-3C40D0245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8F890-9CA9-39C6-6972-7AD737052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82" y="2768600"/>
            <a:ext cx="7541774" cy="1320800"/>
          </a:xfrm>
        </p:spPr>
        <p:txBody>
          <a:bodyPr>
            <a:noAutofit/>
          </a:bodyPr>
          <a:lstStyle/>
          <a:p>
            <a:r>
              <a:rPr lang="en-IN" sz="9600" dirty="0">
                <a:latin typeface="Algerian" panose="04020705040A02060702" pitchFamily="82" charset="0"/>
              </a:rPr>
              <a:t>Thankyou</a:t>
            </a:r>
            <a:r>
              <a:rPr lang="en-IN" sz="9600" dirty="0"/>
              <a:t> </a:t>
            </a:r>
            <a:endParaRPr sz="9600" dirty="0"/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3A209A03-755A-AFB5-63BB-88A0EC9CFC7E}"/>
              </a:ext>
            </a:extLst>
          </p:cNvPr>
          <p:cNvSpPr txBox="1">
            <a:spLocks/>
          </p:cNvSpPr>
          <p:nvPr/>
        </p:nvSpPr>
        <p:spPr>
          <a:xfrm>
            <a:off x="8437555" y="6288915"/>
            <a:ext cx="301091" cy="18768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IN" spc="-50" smtClean="0">
                <a:solidFill>
                  <a:schemeClr val="bg1"/>
                </a:solidFill>
              </a:rPr>
              <a:pPr marL="38100">
                <a:lnSpc>
                  <a:spcPts val="1425"/>
                </a:lnSpc>
              </a:pPr>
              <a:t>10</a:t>
            </a:fld>
            <a:endParaRPr lang="en-IN" spc="-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76508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897</TotalTime>
  <Words>689</Words>
  <Application>Microsoft Office PowerPoint</Application>
  <PresentationFormat>On-screen Show (4:3)</PresentationFormat>
  <Paragraphs>102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Algerian</vt:lpstr>
      <vt:lpstr>Arial</vt:lpstr>
      <vt:lpstr>Trebuchet MS</vt:lpstr>
      <vt:lpstr>Wingdings</vt:lpstr>
      <vt:lpstr>Wingdings 3</vt:lpstr>
      <vt:lpstr>Facet</vt:lpstr>
      <vt:lpstr>Team Name – Aniruddha </vt:lpstr>
      <vt:lpstr>Idea Title</vt:lpstr>
      <vt:lpstr>Proposed Solution</vt:lpstr>
      <vt:lpstr>Technical Approach (Technology Stack)</vt:lpstr>
      <vt:lpstr>Technical Approach (Workflow &amp; Architecture)</vt:lpstr>
      <vt:lpstr>Feasibility &amp; Viability</vt:lpstr>
      <vt:lpstr>Impact &amp; Benefits</vt:lpstr>
      <vt:lpstr>Key Features of the App</vt:lpstr>
      <vt:lpstr>Research &amp; References</vt:lpstr>
      <vt:lpstr>Thankyou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Mohit sunariya</dc:creator>
  <cp:keywords/>
  <dc:description>generated using python-pptx</dc:description>
  <cp:lastModifiedBy>Mohit kumar</cp:lastModifiedBy>
  <cp:revision>7</cp:revision>
  <dcterms:created xsi:type="dcterms:W3CDTF">2013-01-27T09:14:16Z</dcterms:created>
  <dcterms:modified xsi:type="dcterms:W3CDTF">2025-09-28T01:26:50Z</dcterms:modified>
  <cp:category/>
</cp:coreProperties>
</file>